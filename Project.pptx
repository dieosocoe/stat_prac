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3" r:id="rId13"/>
    <p:sldId id="266" r:id="rId14"/>
    <p:sldId id="269" r:id="rId15"/>
    <p:sldId id="271" r:id="rId16"/>
    <p:sldId id="272" r:id="rId17"/>
    <p:sldId id="270" r:id="rId18"/>
    <p:sldId id="267" r:id="rId19"/>
    <p:sldId id="275" r:id="rId20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b="153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556000" y="2936160"/>
            <a:ext cx="5775120" cy="19785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465480"/>
            <a:ext cx="826128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3720" cy="208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83880" y="2640600"/>
            <a:ext cx="4449600" cy="227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71608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6;p21"/>
          <p:cNvPicPr/>
          <p:nvPr/>
        </p:nvPicPr>
        <p:blipFill>
          <a:blip r:embed="rId2"/>
          <a:srcRect b="153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43760" y="3856320"/>
            <a:ext cx="3766320" cy="10584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Google Shape;119;p21"/>
          <p:cNvSpPr/>
          <p:nvPr/>
        </p:nvSpPr>
        <p:spPr>
          <a:xfrm>
            <a:off x="4805280" y="3921480"/>
            <a:ext cx="2913120" cy="5558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CREDITS:</a:t>
            </a: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 This presentation template was created by </a:t>
            </a:r>
            <a:r>
              <a:rPr lang="en" sz="1000" b="1" u="sng" strike="noStrike">
                <a:solidFill>
                  <a:schemeClr val="dk2"/>
                </a:solidFill>
                <a:effectLst/>
                <a:uFillTx/>
                <a:latin typeface="Cabin"/>
                <a:ea typeface="Cabin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2"/>
                </a:solidFill>
                <a:effectLst/>
                <a:uFillTx/>
                <a:latin typeface="Cabin"/>
                <a:ea typeface="Cabin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91569" y="709188"/>
            <a:ext cx="7219486" cy="2000026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прогнозирование качества воздуха в городах Индии методами классификации и регрессии</a:t>
            </a:r>
            <a:endParaRPr lang="fr-FR" sz="2600" b="1" i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0" y="3707254"/>
            <a:ext cx="2323800" cy="13712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</a:t>
            </a:r>
            <a:b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332 группы</a:t>
            </a:r>
            <a:b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Федоров Иван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oogle Shape;139;p28"/>
          <p:cNvGrpSpPr/>
          <p:nvPr/>
        </p:nvGrpSpPr>
        <p:grpSpPr>
          <a:xfrm>
            <a:off x="652680" y="360"/>
            <a:ext cx="8491320" cy="69840"/>
            <a:chOff x="652680" y="360"/>
            <a:chExt cx="8491320" cy="69840"/>
          </a:xfrm>
        </p:grpSpPr>
        <p:sp>
          <p:nvSpPr>
            <p:cNvPr id="18" name="Google Shape;140;p28"/>
            <p:cNvSpPr/>
            <p:nvPr/>
          </p:nvSpPr>
          <p:spPr>
            <a:xfrm rot="16200000">
              <a:off x="4863240" y="-4210200"/>
              <a:ext cx="69840" cy="84913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41;p28"/>
            <p:cNvSpPr/>
            <p:nvPr/>
          </p:nvSpPr>
          <p:spPr>
            <a:xfrm rot="16200000">
              <a:off x="4863240" y="-4210200"/>
              <a:ext cx="69840" cy="84913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87656" y="829101"/>
            <a:ext cx="4445759" cy="43979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Загрязнение воздуха напрямую угрожает жизням миллионов людей. В Индии эта проблема стоит наиболее остро. И в  условиях нехватки станций мониторинга, прогнозирование индекса AQI с помощью машинного обучения становится критически важным инструментом для предупреждения населения.</a:t>
            </a:r>
            <a:endParaRPr lang="fr-FR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oogle Shape;217;p31"/>
          <p:cNvGrpSpPr/>
          <p:nvPr/>
        </p:nvGrpSpPr>
        <p:grpSpPr>
          <a:xfrm>
            <a:off x="0" y="360"/>
            <a:ext cx="9143280" cy="69840"/>
            <a:chOff x="0" y="360"/>
            <a:chExt cx="9143280" cy="69840"/>
          </a:xfrm>
        </p:grpSpPr>
        <p:sp>
          <p:nvSpPr>
            <p:cNvPr id="24" name="Google Shape;218;p31"/>
            <p:cNvSpPr/>
            <p:nvPr/>
          </p:nvSpPr>
          <p:spPr>
            <a:xfrm rot="16200000">
              <a:off x="5842800" y="-3229920"/>
              <a:ext cx="69840" cy="65307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219;p31"/>
            <p:cNvSpPr/>
            <p:nvPr/>
          </p:nvSpPr>
          <p:spPr>
            <a:xfrm rot="16200000">
              <a:off x="944640" y="-943920"/>
              <a:ext cx="69840" cy="1959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0" name="image69fafac056e27" descr="image69fafac056e2c">
            <a:extLst>
              <a:ext uri="{FF2B5EF4-FFF2-40B4-BE49-F238E27FC236}">
                <a16:creationId xmlns:a16="http://schemas.microsoft.com/office/drawing/2014/main" id="{8935C3A7-4196-4843-A2FB-CAB487575D9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/>
        </p:nvSpPr>
        <p:spPr>
          <a:xfrm>
            <a:off x="128261" y="177421"/>
            <a:ext cx="8271936" cy="8309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Комплексный анализ факторов, влияющих на загрязнение воздуха в городах Индии, и разработка прогностических моделей для оценки Индекса качества воздуха (AQI) и его категорий опасности.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05B83B0-3158-4B92-823C-4A209C5F9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61" y="1008418"/>
            <a:ext cx="8694779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Разведывательный анализ данных (EDA):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распределения целевых переменных (числового US_AQI и категориального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AQI_Category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аномалий (выбросов) в концентрациях вредных веществ и метеорологических данных.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взаимосвязей (корреляций) между погодными условиями и уровнем загрязнения.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точного значения индекса (Регрессия):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моделей для предсказания числового значения US_AQI на основе климатических и химических факторов.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точности прогнозирования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уровня опасности (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Многоклассовая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классификация):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моделей для предсказания категории качества воздуха (от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kumimoji="0" lang="ru-RU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Hazardous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алгоритмов: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Логистическая регрессия (</a:t>
            </a:r>
            <a:r>
              <a:rPr kumimoji="0" lang="ru-RU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 k-ближайших соседей (KNN)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Случайный лес (</a:t>
            </a:r>
            <a:r>
              <a:rPr kumimoji="0" lang="ru-RU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признаки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771F77-E325-4048-8E83-F8CBC3F5AECD}"/>
              </a:ext>
            </a:extLst>
          </p:cNvPr>
          <p:cNvSpPr txBox="1"/>
          <p:nvPr/>
        </p:nvSpPr>
        <p:spPr>
          <a:xfrm>
            <a:off x="4705492" y="3620012"/>
            <a:ext cx="4244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Географические признаки: 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штат;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Latitude`, `Longitude`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координаты.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B471F-B39F-48C9-873D-D31AB05E9AB1}"/>
              </a:ext>
            </a:extLst>
          </p:cNvPr>
          <p:cNvSpPr txBox="1"/>
          <p:nvPr/>
        </p:nvSpPr>
        <p:spPr>
          <a:xfrm>
            <a:off x="263145" y="1027639"/>
            <a:ext cx="44423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Временные признаки: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Datetime`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 и время наблюдения;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Year`, `Month`, `Day`, `Hour`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год, месяц, день и час;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Day_of_Week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Is_Weekend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`Quarter`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календарные признаки;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Season`, 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Time_of_Day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сезон и время суток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63B1-162F-4439-96B6-EA229594DF49}"/>
              </a:ext>
            </a:extLst>
          </p:cNvPr>
          <p:cNvSpPr txBox="1"/>
          <p:nvPr/>
        </p:nvSpPr>
        <p:spPr>
          <a:xfrm>
            <a:off x="4705492" y="1027639"/>
            <a:ext cx="37736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Признаки загрязнения воздуха: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PM2_5_ugm3`, `PM10_ugm3`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концентрации взвешенных частиц; 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CO_ugm3`, `NO2_ugm3`, `SO2_ugm3`, `O3_ugm3`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концентрации газообразных загрязнителей;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Dust_ugm3`, `AOD`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показатели загрязнения;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US_AQI`, `EU_AQI`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индексы качества воздуха.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8F541-083D-4C3A-B36B-19A703964769}"/>
              </a:ext>
            </a:extLst>
          </p:cNvPr>
          <p:cNvSpPr txBox="1"/>
          <p:nvPr/>
        </p:nvSpPr>
        <p:spPr>
          <a:xfrm>
            <a:off x="263145" y="2571750"/>
            <a:ext cx="3978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Погодные признаки: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Temp_2m_C`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температура;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Humidity_Percent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влажность; 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Wind_Speed_10m_kmh`, 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Wind_Gusts_kmh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ветра и порывы;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Precipitation_mm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Rain_mm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осадки; 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Pressure_MSL_hPa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атмосферное давление; 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Cloud_Cover_Percent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облачность; `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Solar_Radiation_Wm2`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солнечная радиация.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43160" y="223963"/>
            <a:ext cx="825768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Unbounded"/>
                <a:cs typeface="Times New Roman" panose="02020603050405020304" pitchFamily="18" charset="0"/>
              </a:rPr>
              <a:t>Распределение целевых признаков  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Unbounded"/>
                <a:cs typeface="Times New Roman" panose="02020603050405020304" pitchFamily="18" charset="0"/>
              </a:rPr>
              <a:t>US_AQI</a:t>
            </a:r>
            <a:r>
              <a:rPr lang="ru-RU" sz="2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Unbounded"/>
                <a:cs typeface="Times New Roman" panose="02020603050405020304" pitchFamily="18" charset="0"/>
              </a:rPr>
              <a:t> и  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Unbounded"/>
                <a:cs typeface="Times New Roman" panose="02020603050405020304" pitchFamily="18" charset="0"/>
              </a:rPr>
              <a:t>AQI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34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022220-7564-43A1-B405-8EF5CB95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0" y="2395182"/>
            <a:ext cx="4898315" cy="255895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A2C3B3-662C-4A44-AF83-832E7F713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700" y="1304280"/>
            <a:ext cx="5095228" cy="30820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DE8354-F6E6-487B-A816-21636E0CE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738" y="1248196"/>
            <a:ext cx="5813644" cy="3363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111A6-B44D-4C4C-8A4C-1958EF9CD4D4}"/>
              </a:ext>
            </a:extLst>
          </p:cNvPr>
          <p:cNvSpPr txBox="1"/>
          <p:nvPr/>
        </p:nvSpPr>
        <p:spPr>
          <a:xfrm>
            <a:off x="2210937" y="620972"/>
            <a:ext cx="54522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Выбросы индекса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US_AQI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9D3B09-3C1F-4D5C-916E-368D477EE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88" y="410572"/>
            <a:ext cx="7322023" cy="43223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217;p31"/>
          <p:cNvGrpSpPr/>
          <p:nvPr/>
        </p:nvGrpSpPr>
        <p:grpSpPr>
          <a:xfrm>
            <a:off x="0" y="360"/>
            <a:ext cx="9143280" cy="69840"/>
            <a:chOff x="0" y="360"/>
            <a:chExt cx="9143280" cy="69840"/>
          </a:xfrm>
        </p:grpSpPr>
        <p:sp>
          <p:nvSpPr>
            <p:cNvPr id="46" name="Google Shape;218;p31"/>
            <p:cNvSpPr/>
            <p:nvPr/>
          </p:nvSpPr>
          <p:spPr>
            <a:xfrm rot="16200000">
              <a:off x="5842800" y="-3229920"/>
              <a:ext cx="69840" cy="65307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219;p31"/>
            <p:cNvSpPr/>
            <p:nvPr/>
          </p:nvSpPr>
          <p:spPr>
            <a:xfrm rot="16200000">
              <a:off x="944640" y="-943920"/>
              <a:ext cx="69840" cy="1959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2CEC48F-1AE9-4908-9982-4055AD5C8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499" y="142973"/>
            <a:ext cx="4404652" cy="28595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9B679C-936C-4785-AD1B-5BC68530A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9" y="2326943"/>
            <a:ext cx="4435389" cy="2741493"/>
          </a:xfrm>
          <a:prstGeom prst="rect">
            <a:avLst/>
          </a:prstGeom>
        </p:spPr>
      </p:pic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FC2B6746-789C-4E50-A379-C9E84A8F59BE}"/>
              </a:ext>
            </a:extLst>
          </p:cNvPr>
          <p:cNvSpPr/>
          <p:nvPr/>
        </p:nvSpPr>
        <p:spPr>
          <a:xfrm>
            <a:off x="2168608" y="1649434"/>
            <a:ext cx="265869" cy="42892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D5A9D-2EC4-48CC-B614-A620ABB5C11E}"/>
              </a:ext>
            </a:extLst>
          </p:cNvPr>
          <p:cNvSpPr txBox="1"/>
          <p:nvPr/>
        </p:nvSpPr>
        <p:spPr>
          <a:xfrm>
            <a:off x="556146" y="754516"/>
            <a:ext cx="3343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 10 городов с самым высоким индексом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US_AQI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CB47F44C-2905-438C-8C13-A4278851CDA6}"/>
              </a:ext>
            </a:extLst>
          </p:cNvPr>
          <p:cNvSpPr/>
          <p:nvPr/>
        </p:nvSpPr>
        <p:spPr>
          <a:xfrm rot="10800000">
            <a:off x="6724890" y="3268767"/>
            <a:ext cx="265869" cy="42892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1D3E2-1AA9-45AB-AD1F-93431521FC43}"/>
              </a:ext>
            </a:extLst>
          </p:cNvPr>
          <p:cNvSpPr txBox="1"/>
          <p:nvPr/>
        </p:nvSpPr>
        <p:spPr>
          <a:xfrm>
            <a:off x="4728773" y="3794077"/>
            <a:ext cx="4258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 10 городов с самым низким индексом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US_AQI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717BAC-26BE-4D5D-A746-79FBAA9BC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1" y="2299649"/>
            <a:ext cx="4387808" cy="26348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19FFB7-0506-4363-8657-2AFF77B83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361" y="68194"/>
            <a:ext cx="4387808" cy="2767541"/>
          </a:xfrm>
          <a:prstGeom prst="rect">
            <a:avLst/>
          </a:prstGeom>
        </p:spPr>
      </p:pic>
      <p:sp>
        <p:nvSpPr>
          <p:cNvPr id="4" name="Стрелка: вниз 3">
            <a:extLst>
              <a:ext uri="{FF2B5EF4-FFF2-40B4-BE49-F238E27FC236}">
                <a16:creationId xmlns:a16="http://schemas.microsoft.com/office/drawing/2014/main" id="{CB249F32-F543-415E-A11E-A7BB0CA305D7}"/>
              </a:ext>
            </a:extLst>
          </p:cNvPr>
          <p:cNvSpPr/>
          <p:nvPr/>
        </p:nvSpPr>
        <p:spPr>
          <a:xfrm>
            <a:off x="2183399" y="1451964"/>
            <a:ext cx="265869" cy="42892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17DBD3D2-98E3-4757-A068-9AD7F13E6F98}"/>
              </a:ext>
            </a:extLst>
          </p:cNvPr>
          <p:cNvSpPr/>
          <p:nvPr/>
        </p:nvSpPr>
        <p:spPr>
          <a:xfrm rot="10800000">
            <a:off x="6636802" y="3324596"/>
            <a:ext cx="265869" cy="42892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5D9D8-CF6E-46E2-8D28-3004616A9537}"/>
              </a:ext>
            </a:extLst>
          </p:cNvPr>
          <p:cNvSpPr txBox="1"/>
          <p:nvPr/>
        </p:nvSpPr>
        <p:spPr>
          <a:xfrm>
            <a:off x="378351" y="596251"/>
            <a:ext cx="387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 месяцев с самым высоким средним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US_AQI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0BBEC-964D-4D36-9DD6-8FEDF7DEA435}"/>
              </a:ext>
            </a:extLst>
          </p:cNvPr>
          <p:cNvSpPr txBox="1"/>
          <p:nvPr/>
        </p:nvSpPr>
        <p:spPr>
          <a:xfrm>
            <a:off x="4759629" y="3753518"/>
            <a:ext cx="4135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Показатель среднего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US_AQI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сезонам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3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3A9227-A124-44E4-96CE-2666E5B84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99" y="70381"/>
            <a:ext cx="7318747" cy="507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3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F51B7E3-12C4-4F08-A886-73E453F292D5}"/>
              </a:ext>
            </a:extLst>
          </p:cNvPr>
          <p:cNvSpPr txBox="1"/>
          <p:nvPr/>
        </p:nvSpPr>
        <p:spPr>
          <a:xfrm>
            <a:off x="858459" y="1064135"/>
            <a:ext cx="287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C10A93-B6E4-494A-ADF4-A8BC2618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4" y="1828080"/>
            <a:ext cx="4451869" cy="32427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F6BB14C-7242-40FA-8551-F1299F918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126" y="858222"/>
            <a:ext cx="1314633" cy="78115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1AD1AC-9A05-4C9B-8F47-32C0FDA2E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903" y="1891913"/>
            <a:ext cx="3696216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3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F51B7E3-12C4-4F08-A886-73E453F292D5}"/>
              </a:ext>
            </a:extLst>
          </p:cNvPr>
          <p:cNvSpPr txBox="1"/>
          <p:nvPr/>
        </p:nvSpPr>
        <p:spPr>
          <a:xfrm>
            <a:off x="491011" y="1046564"/>
            <a:ext cx="326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Полиномиальная регрессия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BA7BA3-18A2-4FF7-BFBD-B198536A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83" y="2190466"/>
            <a:ext cx="4608915" cy="281334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0433CB-2C21-4D68-A35A-158185DE0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842" y="577579"/>
            <a:ext cx="1400370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64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8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0E4D44-227B-40ED-B24E-FFC5A1DD86E8}"/>
              </a:ext>
            </a:extLst>
          </p:cNvPr>
          <p:cNvSpPr txBox="1"/>
          <p:nvPr/>
        </p:nvSpPr>
        <p:spPr>
          <a:xfrm>
            <a:off x="620973" y="852985"/>
            <a:ext cx="316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Логистическая регрессия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EFA213-D52F-4BC1-A586-8CB14961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780" y="3076546"/>
            <a:ext cx="3263040" cy="10519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F7E9FD-4D24-431B-BE0C-B389CC4DD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80" y="70381"/>
            <a:ext cx="3263040" cy="27336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172C0F-7B1E-45E9-BA8E-2699A8FA1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944807"/>
            <a:ext cx="4606307" cy="31986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8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1D7FF0-BC45-424A-8468-7C1B1B501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917" y="2757698"/>
            <a:ext cx="2708902" cy="224578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564282-81CB-4CF4-81E9-805A85A84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348" y="70381"/>
            <a:ext cx="3158471" cy="2617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D906F8-01BF-40C1-A5A9-8D9E0D45A828}"/>
              </a:ext>
            </a:extLst>
          </p:cNvPr>
          <p:cNvSpPr txBox="1"/>
          <p:nvPr/>
        </p:nvSpPr>
        <p:spPr>
          <a:xfrm>
            <a:off x="600502" y="634621"/>
            <a:ext cx="3753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ближайших соседей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E1ED811-9B48-4239-8F02-093CBCD68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" y="1876567"/>
            <a:ext cx="4574644" cy="326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8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8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83657D-8BA1-4A4F-9AF0-6F206D2C4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59556"/>
            <a:ext cx="4728949" cy="33194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4910B-E64F-42C6-A5F6-F0D28731ECD4}"/>
              </a:ext>
            </a:extLst>
          </p:cNvPr>
          <p:cNvSpPr txBox="1"/>
          <p:nvPr/>
        </p:nvSpPr>
        <p:spPr>
          <a:xfrm>
            <a:off x="1549019" y="780303"/>
            <a:ext cx="220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CB63A4-7161-44ED-A938-6C911E259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342" y="3026553"/>
            <a:ext cx="3248478" cy="7144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E9FBB4-E108-444F-8913-7F8AD9D43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342" y="70381"/>
            <a:ext cx="3248658" cy="268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23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8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1E9C3E-D61C-4A4C-8046-DC34BF2D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4" y="623594"/>
            <a:ext cx="8284191" cy="4503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903766-0AB6-435B-8A41-4E536F6BF2CC}"/>
              </a:ext>
            </a:extLst>
          </p:cNvPr>
          <p:cNvSpPr txBox="1"/>
          <p:nvPr/>
        </p:nvSpPr>
        <p:spPr>
          <a:xfrm>
            <a:off x="1958454" y="156675"/>
            <a:ext cx="5527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Топ-10 важных признаков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1503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8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BFE4B5-47C2-449D-9539-698F175E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22" y="1594774"/>
            <a:ext cx="5119248" cy="3303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8F3D76-A7EA-4BA5-90DE-FBAB6D0B05BF}"/>
              </a:ext>
            </a:extLst>
          </p:cNvPr>
          <p:cNvSpPr txBox="1"/>
          <p:nvPr/>
        </p:nvSpPr>
        <p:spPr>
          <a:xfrm>
            <a:off x="3263040" y="566203"/>
            <a:ext cx="662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моделей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248330-DB6D-4740-8E03-83D82DC95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817" y="1594774"/>
            <a:ext cx="3341861" cy="88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03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372;p41"/>
          <p:cNvSpPr/>
          <p:nvPr/>
        </p:nvSpPr>
        <p:spPr>
          <a:xfrm>
            <a:off x="4876920" y="4657680"/>
            <a:ext cx="2657160" cy="2566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8" name="Google Shape;373;p41"/>
          <p:cNvGrpSpPr/>
          <p:nvPr/>
        </p:nvGrpSpPr>
        <p:grpSpPr>
          <a:xfrm>
            <a:off x="0" y="360"/>
            <a:ext cx="8492040" cy="69840"/>
            <a:chOff x="0" y="360"/>
            <a:chExt cx="8492040" cy="69840"/>
          </a:xfrm>
        </p:grpSpPr>
        <p:sp>
          <p:nvSpPr>
            <p:cNvPr id="79" name="Google Shape;374;p41"/>
            <p:cNvSpPr/>
            <p:nvPr/>
          </p:nvSpPr>
          <p:spPr>
            <a:xfrm rot="16200000">
              <a:off x="4210920" y="-4210560"/>
              <a:ext cx="69840" cy="8492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375;p41"/>
            <p:cNvSpPr/>
            <p:nvPr/>
          </p:nvSpPr>
          <p:spPr>
            <a:xfrm rot="16200000">
              <a:off x="4210920" y="-4210560"/>
              <a:ext cx="69840" cy="8492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C63F53E-03C6-4B92-B563-938FBB4DFE80}"/>
              </a:ext>
            </a:extLst>
          </p:cNvPr>
          <p:cNvSpPr txBox="1"/>
          <p:nvPr/>
        </p:nvSpPr>
        <p:spPr>
          <a:xfrm>
            <a:off x="1965278" y="286603"/>
            <a:ext cx="4831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F012C04-6C13-403D-BCC4-1E4EC72C0E7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2061" y="809823"/>
            <a:ext cx="85687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Разведывательный анализ (EDA) показал, что качество воздуха имеет сложную нелинейную зависимость от концентрации загрязняющих веществ и метеоусловий. Из-за этого базовая линейная регрессия плохо справилась с предсказанием точного индекса US_AQI, потребовав использования более сложных полиномиальных признаков.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задаче предсказания категории качества воздуха (классификация) безоговорочным лидером стал алгоритм Случайного леса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который легко уловил скрытые закономерности и значительно превзошел другие методы.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D4C99CB-8AC0-4439-A963-5605F2AE2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437" y="3647777"/>
            <a:ext cx="4641245" cy="12914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00377-06C0-48D3-B700-A0602B14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91" y="2571750"/>
            <a:ext cx="8230786" cy="839520"/>
          </a:xfrm>
        </p:spPr>
        <p:txBody>
          <a:bodyPr/>
          <a:lstStyle/>
          <a:p>
            <a:r>
              <a:rPr lang="ru-RU" sz="6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                 			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36640666"/>
      </p:ext>
    </p:extLst>
  </p:cSld>
  <p:clrMapOvr>
    <a:masterClrMapping/>
  </p:clrMapOvr>
</p:sld>
</file>

<file path=ppt/theme/theme1.xml><?xml version="1.0" encoding="utf-8"?>
<a:theme xmlns:a="http://schemas.openxmlformats.org/drawingml/2006/main" name="Haboobs Dust Storms by Slidesgo">
  <a:themeElements>
    <a:clrScheme name="Simple Light">
      <a:dk1>
        <a:srgbClr val="FFFFFF"/>
      </a:dk1>
      <a:lt1>
        <a:srgbClr val="1D3130"/>
      </a:lt1>
      <a:dk2>
        <a:srgbClr val="FFFFFF"/>
      </a:dk2>
      <a:lt2>
        <a:srgbClr val="E4DAC1"/>
      </a:lt2>
      <a:accent1>
        <a:srgbClr val="98826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</TotalTime>
  <Words>623</Words>
  <Application>Microsoft Office PowerPoint</Application>
  <PresentationFormat>Экран (16:9)</PresentationFormat>
  <Paragraphs>50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Cabin</vt:lpstr>
      <vt:lpstr>OpenSymbol</vt:lpstr>
      <vt:lpstr>Symbol</vt:lpstr>
      <vt:lpstr>Times New Roman</vt:lpstr>
      <vt:lpstr>Wingdings</vt:lpstr>
      <vt:lpstr>Haboobs Dust Storms by Slidesgo</vt:lpstr>
      <vt:lpstr>Анализ и прогнозирование качества воздуха в городах Индии методами классификации и регрессии</vt:lpstr>
      <vt:lpstr>Загрязнение воздуха напрямую угрожает жизням миллионов людей. В Индии эта проблема стоит наиболее остро. И в  условиях нехватки станций мониторинга, прогнозирование индекса AQI с помощью машинного обучения становится критически важным инструментом для предупреждения населения.</vt:lpstr>
      <vt:lpstr>Презентация PowerPoint</vt:lpstr>
      <vt:lpstr>Презентация PowerPoint</vt:lpstr>
      <vt:lpstr>Распределение целевых признаков  US_AQI и  AQI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                    внимание!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Загрязнение воздуха</dc:title>
  <dc:creator>Ivan Fedorov</dc:creator>
  <cp:lastModifiedBy>Ivan Fedorov</cp:lastModifiedBy>
  <cp:revision>17</cp:revision>
  <dcterms:modified xsi:type="dcterms:W3CDTF">2026-05-06T21:40:43Z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2026-05-06T08:24:31Z</dcterms:created>
  <dc:creator>Unknown Creator</dc:creator>
  <dc:description/>
  <dc:language>en-US</dc:language>
  <cp:lastModifiedBy>Unknown Creator</cp:lastModifiedBy>
  <dcterms:modified xsi:type="dcterms:W3CDTF">2026-05-06T08:24:31Z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