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3.jpeg" ContentType="image/jpeg"/>
  <Override PartName="/ppt/media/image7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/>
          <a:srcRect l="0" t="0" r="0" b="153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556000" y="2936160"/>
            <a:ext cx="5775120" cy="197856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465480"/>
            <a:ext cx="8261280" cy="83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3720" cy="208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83880" y="2640600"/>
            <a:ext cx="4449600" cy="227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71608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6;p21" descr=""/>
          <p:cNvPicPr/>
          <p:nvPr/>
        </p:nvPicPr>
        <p:blipFill>
          <a:blip r:embed="rId2"/>
          <a:srcRect l="0" t="0" r="0" b="153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43760" y="3856320"/>
            <a:ext cx="3766320" cy="105840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19;p21"/>
          <p:cNvSpPr/>
          <p:nvPr/>
        </p:nvSpPr>
        <p:spPr>
          <a:xfrm>
            <a:off x="4805280" y="3921480"/>
            <a:ext cx="2913120" cy="55584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CREDITS:</a:t>
            </a:r>
            <a:r>
              <a:rPr b="0" lang="en" sz="10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 This presentation template was created by </a:t>
            </a:r>
            <a:r>
              <a:rPr b="1" lang="en" sz="1000" strike="noStrike" u="sng">
                <a:solidFill>
                  <a:schemeClr val="dk2"/>
                </a:solidFill>
                <a:effectLst/>
                <a:uFillTx/>
                <a:latin typeface="Cabin"/>
                <a:ea typeface="Cabin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2"/>
                </a:solidFill>
                <a:effectLst/>
                <a:uFillTx/>
                <a:latin typeface="Cabin"/>
                <a:ea typeface="Cabin"/>
                <a:hlinkClick r:id="rId4"/>
              </a:rPr>
              <a:t>Freepik</a:t>
            </a:r>
            <a:r>
              <a:rPr b="0" lang="en" sz="10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552760" y="2933640"/>
            <a:ext cx="5771880" cy="198072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Загрязнение воздуха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228600" y="3543480"/>
            <a:ext cx="2323800" cy="137124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Причины, влияние и пути снижения загрязнений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7" name="Google Shape;139;p28"/>
          <p:cNvGrpSpPr/>
          <p:nvPr/>
        </p:nvGrpSpPr>
        <p:grpSpPr>
          <a:xfrm>
            <a:off x="652680" y="360"/>
            <a:ext cx="8491320" cy="69840"/>
            <a:chOff x="652680" y="360"/>
            <a:chExt cx="8491320" cy="69840"/>
          </a:xfrm>
        </p:grpSpPr>
        <p:sp>
          <p:nvSpPr>
            <p:cNvPr id="18" name="Google Shape;140;p28"/>
            <p:cNvSpPr/>
            <p:nvPr/>
          </p:nvSpPr>
          <p:spPr>
            <a:xfrm rot="16200000">
              <a:off x="4863240" y="-4210200"/>
              <a:ext cx="69840" cy="8491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41;p28"/>
            <p:cNvSpPr/>
            <p:nvPr/>
          </p:nvSpPr>
          <p:spPr>
            <a:xfrm rot="16200000">
              <a:off x="4863240" y="-4210200"/>
              <a:ext cx="69840" cy="8491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14;p31" descr=""/>
          <p:cNvPicPr/>
          <p:nvPr/>
        </p:nvPicPr>
        <p:blipFill>
          <a:blip r:embed="rId1"/>
          <a:stretch/>
        </p:blipFill>
        <p:spPr>
          <a:xfrm>
            <a:off x="571608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09760" cy="20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Введение 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81000" y="2638440"/>
            <a:ext cx="4447800" cy="22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Краткий обзор проблематики: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качество воздуха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влияет на здоровье и экономику. Необходим системный подход для оценки и сокращения выбросов.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Сфокусируемся на основных источниках, их влиянии и мерах смягчения, с практическими рекомендациями для органов власти и бизнеса.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" name="Google Shape;217;p31"/>
          <p:cNvGrpSpPr/>
          <p:nvPr/>
        </p:nvGrpSpPr>
        <p:grpSpPr>
          <a:xfrm>
            <a:off x="0" y="360"/>
            <a:ext cx="9143280" cy="69840"/>
            <a:chOff x="0" y="360"/>
            <a:chExt cx="9143280" cy="69840"/>
          </a:xfrm>
        </p:grpSpPr>
        <p:sp>
          <p:nvSpPr>
            <p:cNvPr id="24" name="Google Shape;218;p31"/>
            <p:cNvSpPr/>
            <p:nvPr/>
          </p:nvSpPr>
          <p:spPr>
            <a:xfrm rot="16200000">
              <a:off x="5842800" y="-3229920"/>
              <a:ext cx="69840" cy="65307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219;p31"/>
            <p:cNvSpPr/>
            <p:nvPr/>
          </p:nvSpPr>
          <p:spPr>
            <a:xfrm rot="16200000">
              <a:off x="944640" y="-943920"/>
              <a:ext cx="69840" cy="1959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Источники </a:t>
            </a: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загрязнения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8" name="image69fafac056e27" descr="image69fafac056e2c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Транспорт 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Лидирующая роль городского транспорта в выбросах: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NOx, PM и CO2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 от бензиновых и дизельных двигателей.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Переход на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электромобили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, улучшение общественного транспорта и оптимизация логистики — ключевые меры для снижения загрязнений.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8600" y="466560"/>
            <a:ext cx="825768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Промышленность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048120" y="1495440"/>
            <a:ext cx="5381280" cy="34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Промышленные установки генерируют значимые объемы токсичных выбросов и парниковых газов; контроль технологических процессов обязателен.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Инвестиции в очистные сооружения, модернизацию оборудования и внедрение энергоэффективных технологий уменьшают профиль выбросов и операционные риски.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3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34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Бытовые </a:t>
            </a: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источники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Основные источники: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индивидуальное отопление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, приготовление пищи и бытовая химия. Сжигание твердого топлива и неэффективные приборы выделяют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PM2.5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 и другие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загрязняющие вещества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Переход на чистое топливо и энергоэффективные технологии снижает локальные выбросы и улучшает качество воздуха в жилых зонах.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" name="image69fafac062510" descr="image69fafac062514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Влияние и </a:t>
            </a: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решения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1" name="image69fafac06dbdd" descr="image69fafac06dbe2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214;p31" descr=""/>
          <p:cNvPicPr/>
          <p:nvPr/>
        </p:nvPicPr>
        <p:blipFill>
          <a:blip r:embed="rId1"/>
          <a:stretch/>
        </p:blipFill>
        <p:spPr>
          <a:xfrm>
            <a:off x="571608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09760" cy="20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Здоровье </a:t>
            </a: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людей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981000" y="2638440"/>
            <a:ext cx="4447800" cy="22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Загрязнение повышает риск респираторных и сердечно-сосудистых заболеваний; особо уязвимы дети и пожилые.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Рост заболеваемости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снижает производительность и увеличивает расходы здравоохранения.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Программы мониторинга и профилактики, ограничение экспозиции и информационные кампании защищают население и уменьшают долгосрочные риски.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Google Shape;217;p31"/>
          <p:cNvGrpSpPr/>
          <p:nvPr/>
        </p:nvGrpSpPr>
        <p:grpSpPr>
          <a:xfrm>
            <a:off x="0" y="360"/>
            <a:ext cx="9143280" cy="69840"/>
            <a:chOff x="0" y="360"/>
            <a:chExt cx="9143280" cy="69840"/>
          </a:xfrm>
        </p:grpSpPr>
        <p:sp>
          <p:nvSpPr>
            <p:cNvPr id="46" name="Google Shape;218;p31"/>
            <p:cNvSpPr/>
            <p:nvPr/>
          </p:nvSpPr>
          <p:spPr>
            <a:xfrm rot="16200000">
              <a:off x="5842800" y="-3229920"/>
              <a:ext cx="69840" cy="65307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219;p31"/>
            <p:cNvSpPr/>
            <p:nvPr/>
          </p:nvSpPr>
          <p:spPr>
            <a:xfrm rot="16200000">
              <a:off x="944640" y="-943920"/>
              <a:ext cx="69840" cy="1959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Экология и </a:t>
            </a: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Unbounded"/>
              </a:rPr>
              <a:t>климат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Выбросы приводят к деградации экосистем,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кислотным дождям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 и ухудшению биоразнообразия. Значительная доля загрязнений — источник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парниковых газов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 и климатического воздействия.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bin"/>
              </a:rPr>
              <a:t>Интеграция охраны воздуха и климатической политики позволяет сочетать локальные и глобальные выгоды в экологии.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8600" y="466560"/>
            <a:ext cx="825768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Политика и технологии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048120" y="1495440"/>
            <a:ext cx="5381280" cy="34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Эффективная политика требует стандартов эмиссии, мониторинга и стимулов для чистых технологий.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Инвестиции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в очистные и цифровый мониторинг ускоряют соответствие нормам.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Сотрудничество государства, бизнеса и общества и внедрение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умных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решений повышают эффективность мер и прозрачность результатов.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2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3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466560"/>
            <a:ext cx="825768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Выводы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3048120" y="1495440"/>
            <a:ext cx="5381280" cy="34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Необходимо сочетание регулирования, технологий и общественной осведомлённости для устойчивого улучшения качества воздуха.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Координация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ведомств и целевые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инвестиции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 обеспечат измеримый эффект.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Системный подход, мониторинг и поддержка чистых технологий — ключевые шаги к снижению рисков для здоровья и климата.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7" name="Google Shape;235;p33"/>
          <p:cNvGrpSpPr/>
          <p:nvPr/>
        </p:nvGrpSpPr>
        <p:grpSpPr>
          <a:xfrm>
            <a:off x="0" y="360"/>
            <a:ext cx="9144000" cy="69840"/>
            <a:chOff x="0" y="360"/>
            <a:chExt cx="9144000" cy="69840"/>
          </a:xfrm>
        </p:grpSpPr>
        <p:sp>
          <p:nvSpPr>
            <p:cNvPr id="58" name="Google Shape;236;p33"/>
            <p:cNvSpPr/>
            <p:nvPr/>
          </p:nvSpPr>
          <p:spPr>
            <a:xfrm rot="16200000">
              <a:off x="6495840" y="-2577600"/>
              <a:ext cx="69840" cy="52261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37;p33"/>
            <p:cNvSpPr/>
            <p:nvPr/>
          </p:nvSpPr>
          <p:spPr>
            <a:xfrm rot="16200000">
              <a:off x="1596600" y="-1595880"/>
              <a:ext cx="69840" cy="3263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43040" y="3268440"/>
            <a:ext cx="3762000" cy="164628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THANKS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809960" y="2724120"/>
            <a:ext cx="2914200" cy="127656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youremail@freepik.com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+00 000 000 000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Cabin"/>
                <a:ea typeface="Cabin"/>
              </a:rPr>
              <a:t>yourwebsite.com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357;p41"/>
          <p:cNvGrpSpPr/>
          <p:nvPr/>
        </p:nvGrpSpPr>
        <p:grpSpPr>
          <a:xfrm>
            <a:off x="8219880" y="2816280"/>
            <a:ext cx="437040" cy="437040"/>
            <a:chOff x="8219880" y="2816280"/>
            <a:chExt cx="437040" cy="437040"/>
          </a:xfrm>
        </p:grpSpPr>
        <p:sp>
          <p:nvSpPr>
            <p:cNvPr id="63" name="Google Shape;358;p41"/>
            <p:cNvSpPr/>
            <p:nvPr/>
          </p:nvSpPr>
          <p:spPr>
            <a:xfrm>
              <a:off x="8219880" y="2816280"/>
              <a:ext cx="437040" cy="437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4" name="Google Shape;359;p41"/>
            <p:cNvGrpSpPr/>
            <p:nvPr/>
          </p:nvGrpSpPr>
          <p:grpSpPr>
            <a:xfrm>
              <a:off x="8296920" y="2897280"/>
              <a:ext cx="275760" cy="275760"/>
              <a:chOff x="8296920" y="2897280"/>
              <a:chExt cx="275760" cy="275760"/>
            </a:xfrm>
          </p:grpSpPr>
          <p:sp>
            <p:nvSpPr>
              <p:cNvPr id="65" name="Google Shape;360;p41"/>
              <p:cNvSpPr/>
              <p:nvPr/>
            </p:nvSpPr>
            <p:spPr>
              <a:xfrm>
                <a:off x="8296920" y="2897280"/>
                <a:ext cx="275760" cy="275760"/>
              </a:xfrm>
              <a:custGeom>
                <a:avLst/>
                <a:gdLst>
                  <a:gd name="textAreaLeft" fmla="*/ 0 w 275760"/>
                  <a:gd name="textAreaRight" fmla="*/ 276120 w 275760"/>
                  <a:gd name="textAreaTop" fmla="*/ 0 h 275760"/>
                  <a:gd name="textAreaBottom" fmla="*/ 276120 h 27576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361;p41"/>
              <p:cNvSpPr/>
              <p:nvPr/>
            </p:nvSpPr>
            <p:spPr>
              <a:xfrm>
                <a:off x="8361000" y="2962800"/>
                <a:ext cx="146880" cy="144000"/>
              </a:xfrm>
              <a:custGeom>
                <a:avLst/>
                <a:gdLst>
                  <a:gd name="textAreaLeft" fmla="*/ 0 w 146880"/>
                  <a:gd name="textAreaRight" fmla="*/ 147240 w 146880"/>
                  <a:gd name="textAreaTop" fmla="*/ 0 h 144000"/>
                  <a:gd name="textAreaBottom" fmla="*/ 144360 h 14400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000" bIns="72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362;p41"/>
              <p:cNvSpPr/>
              <p:nvPr/>
            </p:nvSpPr>
            <p:spPr>
              <a:xfrm>
                <a:off x="8490600" y="2932560"/>
                <a:ext cx="37440" cy="37080"/>
              </a:xfrm>
              <a:custGeom>
                <a:avLst/>
                <a:gdLst>
                  <a:gd name="textAreaLeft" fmla="*/ 0 w 37440"/>
                  <a:gd name="textAreaRight" fmla="*/ 37800 w 3744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720" bIns="18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8" name="Google Shape;363;p41"/>
          <p:cNvGrpSpPr/>
          <p:nvPr/>
        </p:nvGrpSpPr>
        <p:grpSpPr>
          <a:xfrm>
            <a:off x="8219880" y="4477320"/>
            <a:ext cx="437040" cy="437040"/>
            <a:chOff x="8219880" y="4477320"/>
            <a:chExt cx="437040" cy="437040"/>
          </a:xfrm>
        </p:grpSpPr>
        <p:sp>
          <p:nvSpPr>
            <p:cNvPr id="69" name="Google Shape;364;p41"/>
            <p:cNvSpPr/>
            <p:nvPr/>
          </p:nvSpPr>
          <p:spPr>
            <a:xfrm>
              <a:off x="8219880" y="4477320"/>
              <a:ext cx="437040" cy="437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365;p41"/>
            <p:cNvSpPr/>
            <p:nvPr/>
          </p:nvSpPr>
          <p:spPr>
            <a:xfrm>
              <a:off x="8304120" y="4559040"/>
              <a:ext cx="268200" cy="273960"/>
            </a:xfrm>
            <a:custGeom>
              <a:avLst/>
              <a:gdLst>
                <a:gd name="textAreaLeft" fmla="*/ 0 w 268200"/>
                <a:gd name="textAreaRight" fmla="*/ 268560 w 268200"/>
                <a:gd name="textAreaTop" fmla="*/ 0 h 273960"/>
                <a:gd name="textAreaBottom" fmla="*/ 274320 h 273960"/>
              </a:gdLst>
              <a:ahLst/>
              <a:cxnLst/>
              <a:rect l="textAreaLeft" t="textAreaTop" r="textAreaRight" b="textAreaBottom"/>
              <a:pathLst>
                <a:path w="6712561" h="6860069">
                  <a:moveTo>
                    <a:pt x="3994869" y="2904749"/>
                  </a:moveTo>
                  <a:lnTo>
                    <a:pt x="6493788" y="0"/>
                  </a:lnTo>
                  <a:lnTo>
                    <a:pt x="5901628" y="0"/>
                  </a:lnTo>
                  <a:lnTo>
                    <a:pt x="3731848" y="2522189"/>
                  </a:lnTo>
                  <a:lnTo>
                    <a:pt x="1998833" y="0"/>
                  </a:lnTo>
                  <a:lnTo>
                    <a:pt x="0" y="0"/>
                  </a:lnTo>
                  <a:lnTo>
                    <a:pt x="2620640" y="3813966"/>
                  </a:lnTo>
                  <a:lnTo>
                    <a:pt x="0" y="6860070"/>
                  </a:lnTo>
                  <a:lnTo>
                    <a:pt x="592216" y="6860070"/>
                  </a:lnTo>
                  <a:lnTo>
                    <a:pt x="2883548" y="4196581"/>
                  </a:lnTo>
                  <a:lnTo>
                    <a:pt x="4713728" y="6860070"/>
                  </a:lnTo>
                  <a:lnTo>
                    <a:pt x="6712561" y="6860070"/>
                  </a:lnTo>
                  <a:lnTo>
                    <a:pt x="3994757" y="2904749"/>
                  </a:lnTo>
                  <a:lnTo>
                    <a:pt x="3994925" y="2904749"/>
                  </a:lnTo>
                  <a:close/>
                  <a:moveTo>
                    <a:pt x="3183768" y="3847528"/>
                  </a:moveTo>
                  <a:lnTo>
                    <a:pt x="2918230" y="3467765"/>
                  </a:lnTo>
                  <a:lnTo>
                    <a:pt x="805563" y="445770"/>
                  </a:lnTo>
                  <a:lnTo>
                    <a:pt x="1715115" y="445770"/>
                  </a:lnTo>
                  <a:lnTo>
                    <a:pt x="3420106" y="2884611"/>
                  </a:lnTo>
                  <a:lnTo>
                    <a:pt x="3685644" y="3264375"/>
                  </a:lnTo>
                  <a:lnTo>
                    <a:pt x="5901907" y="6434494"/>
                  </a:lnTo>
                  <a:lnTo>
                    <a:pt x="4992356" y="6434494"/>
                  </a:lnTo>
                  <a:lnTo>
                    <a:pt x="3183824" y="3847640"/>
                  </a:lnTo>
                  <a:lnTo>
                    <a:pt x="3183824" y="384747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" name="Google Shape;366;p41"/>
          <p:cNvGrpSpPr/>
          <p:nvPr/>
        </p:nvGrpSpPr>
        <p:grpSpPr>
          <a:xfrm>
            <a:off x="8219880" y="3646800"/>
            <a:ext cx="437040" cy="437040"/>
            <a:chOff x="8219880" y="3646800"/>
            <a:chExt cx="437040" cy="437040"/>
          </a:xfrm>
        </p:grpSpPr>
        <p:sp>
          <p:nvSpPr>
            <p:cNvPr id="72" name="Google Shape;367;p41"/>
            <p:cNvSpPr/>
            <p:nvPr/>
          </p:nvSpPr>
          <p:spPr>
            <a:xfrm>
              <a:off x="8219880" y="3646800"/>
              <a:ext cx="437040" cy="437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3" name="Google Shape;368;p41"/>
            <p:cNvGrpSpPr/>
            <p:nvPr/>
          </p:nvGrpSpPr>
          <p:grpSpPr>
            <a:xfrm>
              <a:off x="8305200" y="3746520"/>
              <a:ext cx="266040" cy="237960"/>
              <a:chOff x="8305200" y="3746520"/>
              <a:chExt cx="266040" cy="237960"/>
            </a:xfrm>
          </p:grpSpPr>
          <p:sp>
            <p:nvSpPr>
              <p:cNvPr id="74" name="Google Shape;369;p41"/>
              <p:cNvSpPr/>
              <p:nvPr/>
            </p:nvSpPr>
            <p:spPr>
              <a:xfrm>
                <a:off x="8314200" y="3830400"/>
                <a:ext cx="60840" cy="154080"/>
              </a:xfrm>
              <a:custGeom>
                <a:avLst/>
                <a:gdLst>
                  <a:gd name="textAreaLeft" fmla="*/ 0 w 60840"/>
                  <a:gd name="textAreaRight" fmla="*/ 61200 w 60840"/>
                  <a:gd name="textAreaTop" fmla="*/ 0 h 154080"/>
                  <a:gd name="textAreaBottom" fmla="*/ 154440 h 15408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040" bIns="77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370;p41"/>
              <p:cNvSpPr/>
              <p:nvPr/>
            </p:nvSpPr>
            <p:spPr>
              <a:xfrm>
                <a:off x="8305200" y="37465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371;p41"/>
              <p:cNvSpPr/>
              <p:nvPr/>
            </p:nvSpPr>
            <p:spPr>
              <a:xfrm>
                <a:off x="8407440" y="3830400"/>
                <a:ext cx="163800" cy="154080"/>
              </a:xfrm>
              <a:custGeom>
                <a:avLst/>
                <a:gdLst>
                  <a:gd name="textAreaLeft" fmla="*/ 0 w 163800"/>
                  <a:gd name="textAreaRight" fmla="*/ 164160 w 163800"/>
                  <a:gd name="textAreaTop" fmla="*/ 0 h 154080"/>
                  <a:gd name="textAreaBottom" fmla="*/ 154440 h 15408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040" bIns="77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77" name="Google Shape;372;p41"/>
          <p:cNvSpPr/>
          <p:nvPr/>
        </p:nvSpPr>
        <p:spPr>
          <a:xfrm>
            <a:off x="4876920" y="4657680"/>
            <a:ext cx="2657160" cy="256680"/>
          </a:xfrm>
          <a:prstGeom prst="rect">
            <a:avLst/>
          </a:prstGeom>
          <a:noFill/>
          <a:ln w="0">
            <a:noFill/>
          </a:ln>
          <a:effectLst>
            <a:outerShdw algn="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" name="Google Shape;373;p41"/>
          <p:cNvGrpSpPr/>
          <p:nvPr/>
        </p:nvGrpSpPr>
        <p:grpSpPr>
          <a:xfrm>
            <a:off x="0" y="360"/>
            <a:ext cx="8492040" cy="69840"/>
            <a:chOff x="0" y="360"/>
            <a:chExt cx="8492040" cy="69840"/>
          </a:xfrm>
        </p:grpSpPr>
        <p:sp>
          <p:nvSpPr>
            <p:cNvPr id="79" name="Google Shape;374;p41"/>
            <p:cNvSpPr/>
            <p:nvPr/>
          </p:nvSpPr>
          <p:spPr>
            <a:xfrm rot="16200000">
              <a:off x="4210920" y="-4210560"/>
              <a:ext cx="69840" cy="8492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375;p41"/>
            <p:cNvSpPr/>
            <p:nvPr/>
          </p:nvSpPr>
          <p:spPr>
            <a:xfrm rot="16200000">
              <a:off x="4210920" y="-4210560"/>
              <a:ext cx="69840" cy="8492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aboobs Dust Storms by Slidesgo">
  <a:themeElements>
    <a:clrScheme name="Simple Light">
      <a:dk1>
        <a:srgbClr val="ffffff"/>
      </a:dk1>
      <a:lt1>
        <a:srgbClr val="1d3130"/>
      </a:lt1>
      <a:dk2>
        <a:srgbClr val="ffffff"/>
      </a:dk2>
      <a:lt2>
        <a:srgbClr val="e4dac1"/>
      </a:lt2>
      <a:accent1>
        <a:srgbClr val="98826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2026-05-06T08:24:31Z</dcterms:created>
  <dc:creator>Unknown Creator</dc:creator>
  <dc:description/>
  <dc:language>en-US</dc:language>
  <cp:lastModifiedBy>Unknown Creator</cp:lastModifiedBy>
  <dcterms:modified xsi:type="dcterms:W3CDTF">2026-05-06T08:24:31Z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